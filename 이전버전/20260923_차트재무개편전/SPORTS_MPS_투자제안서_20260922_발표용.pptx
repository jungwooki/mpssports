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바이오밴딩 기반 유소년 축구선수  종합성장관리 플랫폼 </a:t>
            </a:r>
          </a:p>
          <a:p>
            <a:r>
              <a:t>10–15세 전문 · 2026.09 투자·협력 제안</a:t>
            </a:r>
          </a:p>
          <a:p>
            <a:r>
              <a:t>주니어골든에이지 · 대표 이정욱 | 리포트·플랫폼 고도화 및 플래그십 투자 검토안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측정엔진을 출발점으로,  반복 관리 시장을 엽니다 </a:t>
            </a:r>
          </a:p>
          <a:p>
            <a:r>
              <a:t>투자가 만드는 변화: 현장 경험 → 표준 서비스 → 복제 가능한 거점 운영</a:t>
            </a:r>
          </a:p>
          <a:p>
            <a:r>
              <a:t>근거: 7/21 사업소개서 pp.11–16 · 9/8 30p IR pp.10–21 · 9/22 대표 전략 | 확장은 계획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부모이자 팀닥터로서,  반드시 있어야 한다고 느낀 서비스 </a:t>
            </a:r>
          </a:p>
          <a:p>
            <a:r>
              <a:t>“멘탈성향, 부상, 성장차이로 재능이 낙오되지 않도록.”</a:t>
            </a:r>
          </a:p>
          <a:p>
            <a:r>
              <a:t>근거: 서원대 최초 발표 pp.1–7 · 7/21 사업소개서 p.25 · 대표 제공 경력 및 9/22 발언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지원은 여러 곳에,  연결의 책임은 부모에게 </a:t>
            </a:r>
          </a:p>
          <a:p>
            <a:r>
              <a:t>MPS가 해결하려는 문제는 성장·몸 상태·멘탈을 함께 읽고 실행하는 관리의 공백입니다.</a:t>
            </a:r>
          </a:p>
          <a:p>
            <a:r>
              <a:t>근거: 서원대 발표 pp.2·5–7 · 7/21 사업소개서 pp.9–12 | 내부 고객 문제 정의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바이오밴딩의 관점을,  성장관리의 공통 기준으로 </a:t>
            </a:r>
          </a:p>
          <a:p>
            <a:r>
              <a:t>생물학적 성숙도를 고려하는 접근을 M·P·S 해석과 재측정 설계에 적용합니다.</a:t>
            </a:r>
          </a:p>
          <a:p>
            <a:r>
              <a:t>근거:  Premier League 바이오밴딩 사례 ↗  · 최신 내부 리포트 | 골연령은 심리적 나이가 아님; 임상·예측 정확도 검증 진행 전</a:t>
            </a:r>
          </a:p>
          <a:p>
            <a:r>
              <a:t>바이오밴딩 자체는 독점 기술이 아니다. MPS의 축적 가능 자산은 표준 프로토콜, 검증된 해석, 개입과 재측정 기록 및 운영 네트워크이다.</a:t>
            </a:r>
          </a:p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이미 만든 결과물과,  앞으로 연결할 제품을 구분합니다 </a:t>
            </a:r>
          </a:p>
          <a:p>
            <a:r>
              <a:t>데이터를 확충하면서 리포트·대시보드·플랫폼을 지속 업데이트하고 있습니다.</a:t>
            </a:r>
          </a:p>
          <a:p>
            <a:r>
              <a:t>근거: 사용자 첨부 최신 PDF 2종 · 9/22 대표 설명 | 앱 출시·전면 연동 완료로 표현하지 않음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멘탈을 성장단계와 함께 읽고,  다음 연습까지 제안합니다 </a:t>
            </a:r>
          </a:p>
          <a:p>
            <a:r>
              <a:t>최신 멘탈 리포트 · 제품 산출물의 증거 / 가상 선수·예시 점수</a:t>
            </a:r>
          </a:p>
          <a:p>
            <a:r>
              <a:t>원본: MPS_김해온(샘플)_2회_멘탈리포트.pdf pp.1·3·4 | 향상 화살표·평균·선수정보는 가상 예시; 효과 입증 아님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몸 상태와 수행능력,  지난 나의 변화를 연결합니다 </a:t>
            </a:r>
          </a:p>
          <a:p>
            <a:r>
              <a:t>최신 피지컬 리포트 · 제품 산출물의 증거 / 가상 데이터·내부 산식</a:t>
            </a:r>
          </a:p>
          <a:p>
            <a:r>
              <a:t>원본: 피지컬리포트_4페이지_미리보기.pdf pp.1–3 | 지수·변화율은 샘플; OTS·RED-S 확진·부상 확률 아님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가지 강화 경로를,  하나의 선수 기록으로 </a:t>
            </a:r>
          </a:p>
          <a:p>
            <a:r>
              <a:t>MPS는 측정·해석·연결을 맡고, 각 전문기관이 자신의 영역을 실행합니다.</a:t>
            </a:r>
          </a:p>
          <a:p>
            <a:r>
              <a:t>근거: 7/21 사업소개서 pp.11–16 · 9/8 IR pp.10–14 · 9/22 대표 전략 | 의료 진료는 해당 의료기관 제공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팀·지도자·팀닥터·부모·선수가  같은 성장계획을 공유합니다 </a:t>
            </a:r>
          </a:p>
          <a:p>
            <a:r>
              <a:t>자기보고 기록에 객관 측정과 전문가 지원을 연결하는 플랫폼 · 목표 서비스 구조</a:t>
            </a:r>
          </a:p>
          <a:p>
            <a:r>
              <a:t>근거: 서원대 발표 p.6 · 7/21 사업소개서 p.16 · 9/22 대표 전략 | 목표 구조; 보호자 동의와 역할별 열람 범위 설계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처음의 문제의식이,  제품과 운영모델로 발전했습니다 </a:t>
            </a:r>
          </a:p>
          <a:p>
            <a:r>
              <a:t>서원대 발표 → 7월 IR 중간점검 → 9월 스튜디오 모델 → 최신 리포트</a:t>
            </a:r>
          </a:p>
          <a:p>
            <a:r>
              <a:t>근거: 첨부 발표 3종 · 기존 9/20–21 자료 | 누적 접점·선수·검사 건수의 정의가 달라 시계열 성장률로 합산하지 않음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현장 접점을,  반복 구매 고객으로 전환합니다 </a:t>
            </a:r>
          </a:p>
          <a:p>
            <a:r>
              <a:t>대회·팀 단위 측정 → 부모 설명 → 유료 관리 → 재측정·추천</a:t>
            </a:r>
          </a:p>
          <a:p>
            <a:r>
              <a:t>산식: 자체 GTM 검토안 | 40여 팀은 과거 내부 네트워크; 전원 접근·전환 미확정. 30%·25명은 검증 전 가정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측정비에서 종합관리로,  확장 지출 기회 1.2조 원 </a:t>
            </a:r>
          </a:p>
          <a:p>
            <a:r>
              <a:t>국내 축구로 시작해 타 종목 선수, 장기적으로 활동 아동의 성장관리까지 확장합니다.</a:t>
            </a:r>
          </a:p>
          <a:p>
            <a:r>
              <a:t>공식:  문체부 2024년 기준 스포츠산업조사 ↗  시설 22.323조 + 서비스 25.683조. 자체 산식: 2만(7/21 IR)·5만(기존 계획)·50만(확장 가정); 연 단가 9/8 p.14 참고. 세 시장은 중첩·합산 불가.</a:t>
            </a:r>
          </a:p>
          <a:p>
            <a:r>
              <a:t>1.2조는 공식 시장 통계가 아닌 잠재 소비지출 시나리오다. 50만 명의 실제 유효수요와 지불의향은 확인되지 않았다. 의료비는 산식에 포함하지 않고, 회사 귀속 매출과도 구분한다.</a:t>
            </a:r>
          </a:p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1.2조 원은,  검증할 수 있는 가정으로 제시합니다 </a:t>
            </a:r>
          </a:p>
          <a:p>
            <a:r>
              <a:t>전국 확장 인원 × 측정·강화 연간 지출. 시장 확정치·MPS 매출 목표와 구분합니다.</a:t>
            </a:r>
          </a:p>
          <a:p>
            <a:r>
              <a:t>자체 상향식 민감도 분석 | 대상 인원 25/50/75만은 통계 관측값 아님. 가격 가정은 9/8 IR 멤버십 구상 참고. 의료비·팀 계약 별도 가산 없음.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 관리와 파트너 계약으로  매출원을 연결합니다 </a:t>
            </a:r>
          </a:p>
          <a:p>
            <a:r>
              <a:t>제휴기관 진료·훈련 전체 매출을 회사 매출에 합산하지 않습니다.</a:t>
            </a:r>
          </a:p>
          <a:p>
            <a:r>
              <a:t>단가 근거: 기존 안내가(평가 연 36만·멘탈 80만), 9/8 IR pp.14·20, 자체 거점 계약 가정 | 계약·판매가 미확정; 멤버십 포함 서비스를 중복 계상하지 않음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서울 플래그십은  전국 운영모델을 증명하는 첫 거점 </a:t>
            </a:r>
          </a:p>
          <a:p>
            <a:r>
              <a:t>My Performance Studio · 약 60평 운영 구상 / 실제 확보·개설 완료 공간 아님</a:t>
            </a:r>
          </a:p>
          <a:p>
            <a:r>
              <a:t>근거: 9/8 IR pp.13·18–20 · 9/22 대표 전략 | 면적·개설비는 입지·설계·견적 확인 후 확정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활성회원 100명,  연매출 3.75억 원 검증 모델 </a:t>
            </a:r>
          </a:p>
          <a:p>
            <a:r>
              <a:t>9/8 모델에서 별도 영양상품 매출을 제외한 측정·강화 중심 운영 가정</a:t>
            </a:r>
          </a:p>
          <a:p>
            <a:r>
              <a:t>자체 모델: 9/8 IR p.20의 100명·월30만·팀5곳 기준, 비용·처리량 신규 가정. 3,125만×12=3.75억. 본사비·감가·세금·금융비용 제외; 영업이익 아님.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서비스가 반복될수록,  관리 관계와 데이터가 함께 쌓입니다 </a:t>
            </a:r>
          </a:p>
          <a:p>
            <a:r>
              <a:t>측정은 유입, 강화는 지속 가치, 재측정은 다음 관리의 근거입니다.</a:t>
            </a:r>
          </a:p>
          <a:p>
            <a:r>
              <a:t>자체 성장 구조 및 검증 KPI | 데이터 증가가 정확도 향상을 자동 보장하지 않음; 별도 검증 필요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본사는 기준과 제품을,  지역 거점은 실행과 관계를 </a:t>
            </a:r>
          </a:p>
          <a:p>
            <a:r>
              <a:t>직영의 운영 경험을 제휴 의료기관·피지컬센터가 쓸 수 있는 구조로 확장합니다.</a:t>
            </a:r>
          </a:p>
          <a:p>
            <a:r>
              <a:t>근거: 7/21 IR p.16 · 9/8 IR p.19 · 9/22 대표 전략 | 제휴·직영 거점 수는 향후 목표, 현재 운영망 규모 아님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5년차 본사·직영 매출  303억 원 시나리오 </a:t>
            </a:r>
          </a:p>
          <a:p>
            <a:r>
              <a:t>2027–2031 실행 모델 · 전 수치 목표·가정 / 단위: 억 원</a:t>
            </a:r>
          </a:p>
          <a:p>
            <a:r>
              <a:t>자체 계획 모델 | 제휴기관 전체 진료·훈련 매출 제외. 포함 서비스 중복 계상 제외. 초기 거점당 평균 회원·가동계수·판매 단가는 검증 전 가정.</a:t>
            </a:r>
          </a:p>
          <a:p>
            <a:r>
              <a:t>시나리오 합계는 수익원별 회사 귀속 매출의 단순 합계다. 비용과 손익을 예측한 기업가치 평가가 아니다. 매출모델.csv에 연차별 변수와 산식을 공개한다.</a:t>
            </a:r>
          </a:p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경쟁은 이미 존재합니다.  MPS는 성장단계 통합 운영에 집중합니다 </a:t>
            </a:r>
          </a:p>
          <a:p>
            <a:r>
              <a:t>현재 공개 기능은 공정하게 비교하고, MPS의 우위는 실행 지표로 입증하겠습니다.</a:t>
            </a:r>
          </a:p>
          <a:p>
            <a:r>
              <a:t>공식 확인(2026.09.22):  PLCO 팀 멤버십 ↗  ·  플코짐 ↗  ·  ARROWZ LAB ↗  ·  ARROWZ 반복 측정·훈련 ↗  | 공개되지 않은 기능의 부재는 단정하지 않음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해외교류를 연구와 운영에 연결하고,  검증한 모델로 진출합니다 </a:t>
            </a:r>
          </a:p>
          <a:p>
            <a:r>
              <a:t>유럽의 성숙도 기반 육성과 일본의 측정·훈련 거점에서 각각 배웁니다.</a:t>
            </a:r>
          </a:p>
          <a:p>
            <a:r>
              <a:t>공식 사례:  Premier League ↗  ·  ARROWZ LAB ↗  | 전 세계 보편적 상용화 주장 아님. 해외 제휴·진출은 계획, 체결 실적 아님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대표의 강점은,  네 집단의 언어를 연결하는 경험 </a:t>
            </a:r>
          </a:p>
          <a:p>
            <a:r>
              <a:t>의료인·선수 부모·팀닥터·운영자의 경험을 서비스 개발과 현장 실행으로 옮겼습니다.</a:t>
            </a:r>
          </a:p>
          <a:p>
            <a:r>
              <a:t>경력 근거: 7/21 사업소개서 p.25 · 9/8 IR pp.27–28. FIFA 축구의학 코스 수료(학위 아님). 조직 구성·현장자료는 내부 제공 기준.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의료·스포츠·심리·기술,  함께 실행할 팀 </a:t>
            </a:r>
          </a:p>
          <a:p>
            <a:r>
              <a:t>투자는 기존 네트워크에 전담 연구·제품·거점 운영 인력을 더하는 데 쓰입니다.</a:t>
            </a:r>
          </a:p>
          <a:p>
            <a:r>
              <a:t>근거: 7/21·9/8 팀 소개 및 9/22 사용자 수정 | 직책·경력은 내부자료 기준, 전원 상근 고용을 의미하지 않음. CTO 사진 미제공 상태.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고급인력을 확보해,  대표 중심의 실행을 조직의 역량으로 </a:t>
            </a:r>
          </a:p>
          <a:p>
            <a:r>
              <a:t>R&amp;D 센터와 제품팀이 데이터 품질·서비스 기준·플랫폼 연결을 책임집니다.</a:t>
            </a:r>
          </a:p>
          <a:p>
            <a:r>
              <a:t>근거: 9/22 대표의 R&amp;D·전문인력·해외교류 투자 목적 | 직무·산출물은 신규 실행안, 채용·공동연구 계약 미확정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투자는 서울 플래그십과  R&amp;D·제품 조직을 함께 만듭니다 </a:t>
            </a:r>
          </a:p>
          <a:p>
            <a:r>
              <a:t>과거 조달안 8억·20억을 구분한 검토 구조 / 이번 라운드 금액·조건은 미확정</a:t>
            </a:r>
          </a:p>
          <a:p>
            <a:r>
              <a:t>원안: 7/21 IR p.23(20억), 9/8 IR p.26(8억). 20억 배분은 이번 제안·견적 전 가정. 인력비는 첫 항목에 통합, 개발 외주·시설비와 중복 제외.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자금을 쓰는 순서와,  다음 투자를 받을 증거 </a:t>
            </a:r>
          </a:p>
          <a:p>
            <a:r>
              <a:t>투자 집행 시작을 M0로 두고, 단계별 검증 결과에 따라 확장합니다.</a:t>
            </a:r>
          </a:p>
          <a:p>
            <a:r>
              <a:t>자체 18개월 실행 제안 | 100명·70%·300명·3개월은 검증 목표, 확보 실적 아님. 총 예산·운영 기간은 실제 채용·임대 조건에 따라 조정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성장을 앞당기되,  확장의 근거를 먼저 만듭니다 </a:t>
            </a:r>
          </a:p>
          <a:p>
            <a:r>
              <a:t>투자자가 확인할 핵심 질문을 운영·연구 지표로 답하겠습니다.</a:t>
            </a:r>
          </a:p>
          <a:p>
            <a:r>
              <a:t>내부 검증 계획 | 기존 문서의 정확도·효과·독점 표현 대신 투자 후 확보할 증거로 정리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11명의 선수에게는  11가지 성장의 시간이 있습니다 </a:t>
            </a:r>
          </a:p>
          <a:p>
            <a:r>
              <a:t>팀이 축구를 가르치는 동안, MPS는 그 선수가 계속 성장할 수 있는 기반을 만듭니다.</a:t>
            </a:r>
          </a:p>
          <a:p>
            <a:r>
              <a:t>투자·전략적 협력 제안 | 플래그십·R&amp;D·전문인력·플랫폼·해외교류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소중한 트랙은 보존하고,  숫자와 주장은 근거를 붙였습니다 </a:t>
            </a:r>
          </a:p>
          <a:p>
            <a:r>
              <a:t>원본의 지시문·미래 목표·샘플 수치는 현재 실적으로 전환하지 않았습니다.</a:t>
            </a:r>
          </a:p>
          <a:p>
            <a:r>
              <a:t>기존 1.24조 합산 시장·43%/35% 이탈률·최대6배·국내유일·AI 정확도 검증 표현은 이번 투자 논리의 근거로 사용하지 않음. 상세 출처는 동봉 문서 참조.</a:t>
            </a:r>
          </a:p>
          <a:p/>
          <a:p>
            <a:r>
              <a:t>원본 편집: 동봉 index.html 및 build_deck.py. 본 PPTX는 레이아웃 보존을 위한 슬라이드 이미지형입니다.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